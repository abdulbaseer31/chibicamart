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A4450-0564-435E-A234-E8900EE52435}" v="35" dt="2025-10-15T13:27:45.825"/>
    <p1510:client id="{A354ED0C-5A38-4E74-A740-25D5ED94A269}" v="56" dt="2025-10-14T16:21:55.595"/>
    <p1510:client id="{CBC846CE-9452-41A9-9767-B0DBF190D487}" v="4" dt="2025-10-14T16:27:08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696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thyala Adhithya vardan" userId="a81bb812a5779bd7" providerId="LiveId" clId="{3DC592B3-69B6-40DE-868C-8AADB5B79FF4}"/>
    <pc:docChg chg="modSld">
      <pc:chgData name="Muthyala Adhithya vardan" userId="a81bb812a5779bd7" providerId="LiveId" clId="{3DC592B3-69B6-40DE-868C-8AADB5B79FF4}" dt="2025-10-14T16:27:08.546" v="3" actId="14100"/>
      <pc:docMkLst>
        <pc:docMk/>
      </pc:docMkLst>
      <pc:sldChg chg="modSp">
        <pc:chgData name="Muthyala Adhithya vardan" userId="a81bb812a5779bd7" providerId="LiveId" clId="{3DC592B3-69B6-40DE-868C-8AADB5B79FF4}" dt="2025-10-14T16:27:08.546" v="3" actId="14100"/>
        <pc:sldMkLst>
          <pc:docMk/>
          <pc:sldMk cId="272526212" sldId="266"/>
        </pc:sldMkLst>
        <pc:picChg chg="mod">
          <ac:chgData name="Muthyala Adhithya vardan" userId="a81bb812a5779bd7" providerId="LiveId" clId="{3DC592B3-69B6-40DE-868C-8AADB5B79FF4}" dt="2025-10-14T16:27:08.546" v="3" actId="14100"/>
          <ac:picMkLst>
            <pc:docMk/>
            <pc:sldMk cId="272526212" sldId="266"/>
            <ac:picMk id="1028" creationId="{06605243-4A31-406E-E62A-3CD13F233BA5}"/>
          </ac:picMkLst>
        </pc:picChg>
      </pc:sldChg>
    </pc:docChg>
  </pc:docChgLst>
  <pc:docChgLst>
    <pc:chgData name="Abdul Baseer" userId="525a5e1481b40487" providerId="LiveId" clId="{EDACB028-D12F-42C1-9460-209980BF8CA5}"/>
    <pc:docChg chg="modSld sldOrd">
      <pc:chgData name="Abdul Baseer" userId="525a5e1481b40487" providerId="LiveId" clId="{EDACB028-D12F-42C1-9460-209980BF8CA5}" dt="2025-10-15T13:27:51.378" v="52" actId="1076"/>
      <pc:docMkLst>
        <pc:docMk/>
      </pc:docMkLst>
      <pc:sldChg chg="modTransition">
        <pc:chgData name="Abdul Baseer" userId="525a5e1481b40487" providerId="LiveId" clId="{EDACB028-D12F-42C1-9460-209980BF8CA5}" dt="2025-10-15T13:22:28.828" v="0"/>
        <pc:sldMkLst>
          <pc:docMk/>
          <pc:sldMk cId="0" sldId="256"/>
        </pc:sldMkLst>
      </pc:sldChg>
      <pc:sldChg chg="modTransition modAnim">
        <pc:chgData name="Abdul Baseer" userId="525a5e1481b40487" providerId="LiveId" clId="{EDACB028-D12F-42C1-9460-209980BF8CA5}" dt="2025-10-15T13:23:42.401" v="21"/>
        <pc:sldMkLst>
          <pc:docMk/>
          <pc:sldMk cId="0" sldId="257"/>
        </pc:sldMkLst>
      </pc:sldChg>
      <pc:sldChg chg="modTransition">
        <pc:chgData name="Abdul Baseer" userId="525a5e1481b40487" providerId="LiveId" clId="{EDACB028-D12F-42C1-9460-209980BF8CA5}" dt="2025-10-15T13:23:47.957" v="22"/>
        <pc:sldMkLst>
          <pc:docMk/>
          <pc:sldMk cId="0" sldId="258"/>
        </pc:sldMkLst>
      </pc:sldChg>
      <pc:sldChg chg="addSp modSp mod ord modTransition">
        <pc:chgData name="Abdul Baseer" userId="525a5e1481b40487" providerId="LiveId" clId="{EDACB028-D12F-42C1-9460-209980BF8CA5}" dt="2025-10-15T13:27:51.378" v="52" actId="1076"/>
        <pc:sldMkLst>
          <pc:docMk/>
          <pc:sldMk cId="0" sldId="259"/>
        </pc:sldMkLst>
        <pc:spChg chg="mod">
          <ac:chgData name="Abdul Baseer" userId="525a5e1481b40487" providerId="LiveId" clId="{EDACB028-D12F-42C1-9460-209980BF8CA5}" dt="2025-10-15T13:27:11.909" v="46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7:06.231" v="45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6:50.985" v="44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5:47.939" v="31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5:47.939" v="31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5:47.939" v="31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bdul Baseer" userId="525a5e1481b40487" providerId="LiveId" clId="{EDACB028-D12F-42C1-9460-209980BF8CA5}" dt="2025-10-15T13:25:47.939" v="31" actId="1076"/>
          <ac:spMkLst>
            <pc:docMk/>
            <pc:sldMk cId="0" sldId="259"/>
            <ac:spMk id="16" creationId="{00000000-0000-0000-0000-000000000000}"/>
          </ac:spMkLst>
        </pc:spChg>
        <pc:spChg chg="add mod ord">
          <ac:chgData name="Abdul Baseer" userId="525a5e1481b40487" providerId="LiveId" clId="{EDACB028-D12F-42C1-9460-209980BF8CA5}" dt="2025-10-15T13:26:09.667" v="40" actId="14100"/>
          <ac:spMkLst>
            <pc:docMk/>
            <pc:sldMk cId="0" sldId="259"/>
            <ac:spMk id="17" creationId="{7EC3813C-1711-3ACE-EFF3-98A9766F3B5F}"/>
          </ac:spMkLst>
        </pc:spChg>
        <pc:spChg chg="add mod">
          <ac:chgData name="Abdul Baseer" userId="525a5e1481b40487" providerId="LiveId" clId="{EDACB028-D12F-42C1-9460-209980BF8CA5}" dt="2025-10-15T13:26:31.479" v="43" actId="14100"/>
          <ac:spMkLst>
            <pc:docMk/>
            <pc:sldMk cId="0" sldId="259"/>
            <ac:spMk id="19" creationId="{76ABA95E-58AE-87B4-6E5F-A3A7E73D48AA}"/>
          </ac:spMkLst>
        </pc:spChg>
        <pc:spChg chg="add mod">
          <ac:chgData name="Abdul Baseer" userId="525a5e1481b40487" providerId="LiveId" clId="{EDACB028-D12F-42C1-9460-209980BF8CA5}" dt="2025-10-15T13:27:28.938" v="50" actId="1076"/>
          <ac:spMkLst>
            <pc:docMk/>
            <pc:sldMk cId="0" sldId="259"/>
            <ac:spMk id="20" creationId="{3012E9F4-1303-1527-46B5-083E1213E269}"/>
          </ac:spMkLst>
        </pc:spChg>
        <pc:picChg chg="add mod">
          <ac:chgData name="Abdul Baseer" userId="525a5e1481b40487" providerId="LiveId" clId="{EDACB028-D12F-42C1-9460-209980BF8CA5}" dt="2025-10-15T13:27:51.378" v="52" actId="1076"/>
          <ac:picMkLst>
            <pc:docMk/>
            <pc:sldMk cId="0" sldId="259"/>
            <ac:picMk id="21" creationId="{0C4A2A52-C27D-5891-A717-DBE08590ED27}"/>
          </ac:picMkLst>
        </pc:picChg>
      </pc:sldChg>
      <pc:sldChg chg="modTransition">
        <pc:chgData name="Abdul Baseer" userId="525a5e1481b40487" providerId="LiveId" clId="{EDACB028-D12F-42C1-9460-209980BF8CA5}" dt="2025-10-15T13:23:54.259" v="24"/>
        <pc:sldMkLst>
          <pc:docMk/>
          <pc:sldMk cId="0" sldId="260"/>
        </pc:sldMkLst>
      </pc:sldChg>
      <pc:sldChg chg="modTransition">
        <pc:chgData name="Abdul Baseer" userId="525a5e1481b40487" providerId="LiveId" clId="{EDACB028-D12F-42C1-9460-209980BF8CA5}" dt="2025-10-15T13:23:56.755" v="25"/>
        <pc:sldMkLst>
          <pc:docMk/>
          <pc:sldMk cId="0" sldId="261"/>
        </pc:sldMkLst>
      </pc:sldChg>
      <pc:sldChg chg="modTransition">
        <pc:chgData name="Abdul Baseer" userId="525a5e1481b40487" providerId="LiveId" clId="{EDACB028-D12F-42C1-9460-209980BF8CA5}" dt="2025-10-15T13:23:59.711" v="26"/>
        <pc:sldMkLst>
          <pc:docMk/>
          <pc:sldMk cId="0" sldId="262"/>
        </pc:sldMkLst>
      </pc:sldChg>
      <pc:sldChg chg="modTransition">
        <pc:chgData name="Abdul Baseer" userId="525a5e1481b40487" providerId="LiveId" clId="{EDACB028-D12F-42C1-9460-209980BF8CA5}" dt="2025-10-15T13:24:03.132" v="27"/>
        <pc:sldMkLst>
          <pc:docMk/>
          <pc:sldMk cId="0" sldId="263"/>
        </pc:sldMkLst>
      </pc:sldChg>
      <pc:sldChg chg="modTransition">
        <pc:chgData name="Abdul Baseer" userId="525a5e1481b40487" providerId="LiveId" clId="{EDACB028-D12F-42C1-9460-209980BF8CA5}" dt="2025-10-15T13:24:13.413" v="28"/>
        <pc:sldMkLst>
          <pc:docMk/>
          <pc:sldMk cId="0" sldId="264"/>
        </pc:sldMkLst>
      </pc:sldChg>
      <pc:sldChg chg="modTransition">
        <pc:chgData name="Abdul Baseer" userId="525a5e1481b40487" providerId="LiveId" clId="{EDACB028-D12F-42C1-9460-209980BF8CA5}" dt="2025-10-15T13:24:16.602" v="29"/>
        <pc:sldMkLst>
          <pc:docMk/>
          <pc:sldMk cId="0" sldId="265"/>
        </pc:sldMkLst>
      </pc:sldChg>
      <pc:sldChg chg="modTransition">
        <pc:chgData name="Abdul Baseer" userId="525a5e1481b40487" providerId="LiveId" clId="{EDACB028-D12F-42C1-9460-209980BF8CA5}" dt="2025-10-15T13:24:21.993" v="30"/>
        <pc:sldMkLst>
          <pc:docMk/>
          <pc:sldMk cId="272526212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64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2766061" cy="82296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709" y="1346836"/>
            <a:ext cx="10549890" cy="2865120"/>
          </a:xfrm>
        </p:spPr>
        <p:txBody>
          <a:bodyPr anchor="b">
            <a:normAutofit/>
          </a:bodyPr>
          <a:lstStyle>
            <a:lvl1pPr algn="l"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1709" y="4322446"/>
            <a:ext cx="10549890" cy="1986914"/>
          </a:xfrm>
        </p:spPr>
        <p:txBody>
          <a:bodyPr>
            <a:normAutofit/>
          </a:bodyPr>
          <a:lstStyle>
            <a:lvl1pPr marL="0" indent="0" algn="l">
              <a:buNone/>
              <a:defRPr sz="2400" cap="all" baseline="0">
                <a:solidFill>
                  <a:schemeClr val="tx2"/>
                </a:solidFill>
              </a:defRPr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93013" y="6492242"/>
            <a:ext cx="3291840" cy="438150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51709" y="6492242"/>
            <a:ext cx="6149863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876294" y="6492239"/>
            <a:ext cx="925307" cy="43815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255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673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3" y="1703072"/>
            <a:ext cx="11887200" cy="3423284"/>
          </a:xfrm>
        </p:spPr>
        <p:txBody>
          <a:bodyPr anchor="b"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309235"/>
            <a:ext cx="11887200" cy="1649731"/>
          </a:xfrm>
        </p:spPr>
        <p:txBody>
          <a:bodyPr>
            <a:normAutofit/>
          </a:bodyPr>
          <a:lstStyle>
            <a:lvl1pPr marL="0" indent="0">
              <a:buNone/>
              <a:defRPr sz="216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2433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9693" y="2699383"/>
            <a:ext cx="5854067" cy="4250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1" y="2699383"/>
            <a:ext cx="5850253" cy="4250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4380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3" y="742952"/>
            <a:ext cx="11887200" cy="17735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4023" y="2699383"/>
            <a:ext cx="5579740" cy="98869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88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9693" y="3688077"/>
            <a:ext cx="5854069" cy="3261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70" y="2699382"/>
            <a:ext cx="5575922" cy="98869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88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688077"/>
            <a:ext cx="5850252" cy="3261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552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6193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617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047" y="731521"/>
            <a:ext cx="4627244" cy="1967861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7441" y="711199"/>
            <a:ext cx="7069451" cy="623824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047" y="2699383"/>
            <a:ext cx="4627244" cy="4250057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861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7121410" cy="1967863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56865" y="731522"/>
            <a:ext cx="4400028" cy="621791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3" y="2699383"/>
            <a:ext cx="7121413" cy="4250057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210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3" y="5165597"/>
            <a:ext cx="11894826" cy="983226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9693" y="727711"/>
            <a:ext cx="11894825" cy="39597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84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37" y="6148824"/>
            <a:ext cx="11893031" cy="818966"/>
          </a:xfrm>
        </p:spPr>
        <p:txBody>
          <a:bodyPr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450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748" y="731520"/>
            <a:ext cx="11887146" cy="4114800"/>
          </a:xfrm>
        </p:spPr>
        <p:txBody>
          <a:bodyPr anchor="ctr"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3" y="5303519"/>
            <a:ext cx="11885351" cy="1645919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18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19"/>
            <a:ext cx="11163302" cy="3298115"/>
          </a:xfrm>
        </p:spPr>
        <p:txBody>
          <a:bodyPr anchor="ctr"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064773" y="4038668"/>
            <a:ext cx="10502759" cy="65876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3" y="5171903"/>
            <a:ext cx="11887202" cy="1787395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084214" y="87887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644844" y="33179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32437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3" y="2560850"/>
            <a:ext cx="11887201" cy="3014202"/>
          </a:xfrm>
        </p:spPr>
        <p:txBody>
          <a:bodyPr anchor="b"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37" y="5589186"/>
            <a:ext cx="11885406" cy="1368773"/>
          </a:xfrm>
        </p:spPr>
        <p:txBody>
          <a:bodyPr anchor="t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576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11887198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69693" y="3209356"/>
            <a:ext cx="3836279" cy="82296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88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3502" y="4032316"/>
            <a:ext cx="3850482" cy="2917123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7720" y="3213162"/>
            <a:ext cx="3821262" cy="82296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88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05056" y="4036122"/>
            <a:ext cx="3834996" cy="2917123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22930" y="3209356"/>
            <a:ext cx="3833962" cy="82296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88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22930" y="4032316"/>
            <a:ext cx="3833962" cy="2917123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2367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369694" y="731520"/>
            <a:ext cx="11887199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69696" y="5285515"/>
            <a:ext cx="3834288" cy="69151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69696" y="3200398"/>
            <a:ext cx="3834288" cy="18288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69696" y="5977030"/>
            <a:ext cx="3834288" cy="98141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86864" y="5285515"/>
            <a:ext cx="3840480" cy="69151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386864" y="3200398"/>
            <a:ext cx="3838728" cy="18288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385112" y="5977029"/>
            <a:ext cx="3840480" cy="972410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23081" y="5285514"/>
            <a:ext cx="3828889" cy="69151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422931" y="3200398"/>
            <a:ext cx="3833963" cy="18288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422930" y="5977025"/>
            <a:ext cx="3833962" cy="972414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344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6408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50881" y="731520"/>
            <a:ext cx="2406013" cy="62179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9692" y="731520"/>
            <a:ext cx="9298308" cy="62179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4882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4290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77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8289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584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616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8338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3580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4044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183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980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630404" cy="82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7146" y="1"/>
            <a:ext cx="14464666" cy="82296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9695" y="742222"/>
            <a:ext cx="11887198" cy="1774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5" y="2699384"/>
            <a:ext cx="11887199" cy="4250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8305" y="705993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9694" y="7059931"/>
            <a:ext cx="748717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31586" y="7059929"/>
            <a:ext cx="9253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24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  <p:sldLayoutId id="2147483815" r:id="rId18"/>
    <p:sldLayoutId id="2147483816" r:id="rId19"/>
    <p:sldLayoutId id="2147483817" r:id="rId20"/>
    <p:sldLayoutId id="2147483818" r:id="rId21"/>
    <p:sldLayoutId id="2147483819" r:id="rId22"/>
    <p:sldLayoutId id="2147483820" r:id="rId23"/>
    <p:sldLayoutId id="2147483821" r:id="rId24"/>
    <p:sldLayoutId id="2147483822" r:id="rId25"/>
    <p:sldLayoutId id="2147483823" r:id="rId26"/>
    <p:sldLayoutId id="2147483824" r:id="rId2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432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SzPct val="125000"/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SzPct val="125000"/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14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02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B-H Curve of a Ferromagnetic material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7850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Understanding material response and energy loss.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4752618"/>
            <a:ext cx="7556421" cy="541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           -Abdul Baseer:25R11A66A3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137484"/>
            <a:ext cx="7556421" cy="49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                                                    -M.Adhithya Vardan: 25R11A66A4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6445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Ferromagnetic Material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Magnetization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99497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a material which can be magnetized easily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85178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98067" y="2851785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728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Residual Magnetism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magnetization remains even in the absence of the magnetic field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80941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63310" y="480941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42524" y="5066705"/>
            <a:ext cx="3023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 Dependency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strength of the magnet depends on the magnetizing field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0941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98067" y="480941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Eg. Iron, Cobalt, Nickel etc.</a:t>
            </a:r>
            <a:endParaRPr lang="en-US" sz="1750" dirty="0"/>
          </a:p>
        </p:txBody>
      </p:sp>
      <p:pic>
        <p:nvPicPr>
          <p:cNvPr id="20" name="Picture 19" descr="A colorful light in the dark&#10;&#10;AI-generated content may be incorrect.">
            <a:extLst>
              <a:ext uri="{FF2B5EF4-FFF2-40B4-BE49-F238E27FC236}">
                <a16:creationId xmlns:a16="http://schemas.microsoft.com/office/drawing/2014/main" id="{5E83DD79-E09B-086E-1A7D-18AABD707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280" y="0"/>
            <a:ext cx="4770120" cy="2594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99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Hysteresis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4061"/>
            <a:ext cx="6244709" cy="46834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95265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599521" y="281058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336637" y="2853095"/>
            <a:ext cx="423362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Lagging of Magnetization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8336637" y="3505200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the lagging of magnetization of a ferromagnetic material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599521" y="46846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336637" y="47271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Goes Beyond Zero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336637" y="5379244"/>
            <a:ext cx="55075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ferro-magnetic material is magnetized, it will not go back to zero even after the magnetizing field is removed.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884" y="470535"/>
            <a:ext cx="4787146" cy="53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Magnetization process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8884" y="1347430"/>
            <a:ext cx="1343263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285" y="1813560"/>
            <a:ext cx="10445829" cy="47807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9078" y="3007177"/>
            <a:ext cx="671619" cy="6716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107033" y="5245984"/>
            <a:ext cx="1961128" cy="37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Saturation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322" y="3008436"/>
            <a:ext cx="671619" cy="6716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2101" y="5233559"/>
            <a:ext cx="1961129" cy="75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Domains Align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196" y="3008436"/>
            <a:ext cx="671619" cy="67161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161022" y="5270114"/>
            <a:ext cx="1961128" cy="75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Domains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637" y="3008436"/>
            <a:ext cx="671619" cy="671619"/>
          </a:xfrm>
          <a:prstGeom prst="rect">
            <a:avLst/>
          </a:prstGeom>
        </p:spPr>
      </p:pic>
      <p:sp>
        <p:nvSpPr>
          <p:cNvPr id="17" name="Shape 6">
            <a:extLst>
              <a:ext uri="{FF2B5EF4-FFF2-40B4-BE49-F238E27FC236}">
                <a16:creationId xmlns:a16="http://schemas.microsoft.com/office/drawing/2014/main" id="{7EC3813C-1711-3ACE-EFF3-98A9766F3B5F}"/>
              </a:ext>
            </a:extLst>
          </p:cNvPr>
          <p:cNvSpPr/>
          <p:nvPr/>
        </p:nvSpPr>
        <p:spPr>
          <a:xfrm>
            <a:off x="309991" y="5710713"/>
            <a:ext cx="10445829" cy="2536746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5"/>
          <p:cNvSpPr/>
          <p:nvPr/>
        </p:nvSpPr>
        <p:spPr>
          <a:xfrm>
            <a:off x="2646090" y="5270113"/>
            <a:ext cx="1961128" cy="37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Exposure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695137" y="6179344"/>
            <a:ext cx="1343263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ferromagnetic material can be magnetized via exposure to heat, external magnetic field, rubbing of permanent magnet and electromagnetism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695137" y="6645473"/>
            <a:ext cx="1343263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Initially, Domains are randomly oriented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95137" y="6979086"/>
            <a:ext cx="1343263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Magnetization Power (H) increases, domains align in the direction of the field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95137" y="7312699"/>
            <a:ext cx="13432631" cy="273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Magnetization rises quickly at first, then saturates.</a:t>
            </a:r>
            <a:endParaRPr lang="en-US" sz="1300" dirty="0"/>
          </a:p>
        </p:txBody>
      </p:sp>
      <p:pic>
        <p:nvPicPr>
          <p:cNvPr id="18" name="Picture 17" descr="A close-up of orange lights&#10;&#10;AI-generated content may be incorrect.">
            <a:extLst>
              <a:ext uri="{FF2B5EF4-FFF2-40B4-BE49-F238E27FC236}">
                <a16:creationId xmlns:a16="http://schemas.microsoft.com/office/drawing/2014/main" id="{3C08BC65-43BF-C4C5-4A23-103395CC0F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054" y="0"/>
            <a:ext cx="7912346" cy="1621156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76ABA95E-58AE-87B4-6E5F-A3A7E73D48AA}"/>
              </a:ext>
            </a:extLst>
          </p:cNvPr>
          <p:cNvSpPr/>
          <p:nvPr/>
        </p:nvSpPr>
        <p:spPr>
          <a:xfrm>
            <a:off x="367336" y="5719972"/>
            <a:ext cx="10321742" cy="17670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012E9F4-1303-1527-46B5-083E1213E269}"/>
              </a:ext>
            </a:extLst>
          </p:cNvPr>
          <p:cNvSpPr/>
          <p:nvPr/>
        </p:nvSpPr>
        <p:spPr>
          <a:xfrm>
            <a:off x="4868292" y="5561336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0C4A2A52-C27D-5891-A717-DBE08590ED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424" y="5731476"/>
            <a:ext cx="272177" cy="340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5143"/>
            <a:ext cx="61249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Aim of the experiment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97712"/>
            <a:ext cx="6407944" cy="2536746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356723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540" y="325755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14" y="3427690"/>
            <a:ext cx="272177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164687"/>
            <a:ext cx="5893356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Study the B-H curve characteristics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51084" y="51513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study the B-H curve characteristics of a ferromagnetic material and hence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3597712"/>
            <a:ext cx="6408063" cy="2536746"/>
          </a:xfrm>
          <a:prstGeom prst="roundRect">
            <a:avLst>
              <a:gd name="adj" fmla="val 57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428548" y="3567232"/>
            <a:ext cx="6408063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292298" y="325755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371" y="3427690"/>
            <a:ext cx="272177" cy="3401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4164687"/>
            <a:ext cx="459462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Analyze material properties</a:t>
            </a:r>
            <a:endParaRPr lang="en-US" sz="2650" dirty="0"/>
          </a:p>
        </p:txBody>
      </p:sp>
      <p:sp>
        <p:nvSpPr>
          <p:cNvPr id="14" name="Text 10"/>
          <p:cNvSpPr/>
          <p:nvPr/>
        </p:nvSpPr>
        <p:spPr>
          <a:xfrm>
            <a:off x="7685842" y="472606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study the properties of the magnetic material obtained/given</a:t>
            </a:r>
            <a:endParaRPr lang="en-US" sz="1750" dirty="0"/>
          </a:p>
        </p:txBody>
      </p:sp>
      <p:pic>
        <p:nvPicPr>
          <p:cNvPr id="16" name="Picture 15" descr="A purple glowing circle with lines around it&#10;&#10;AI-generated content may be incorrect.">
            <a:extLst>
              <a:ext uri="{FF2B5EF4-FFF2-40B4-BE49-F238E27FC236}">
                <a16:creationId xmlns:a16="http://schemas.microsoft.com/office/drawing/2014/main" id="{664321D6-71C8-CA18-FCDF-831D86DA2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561" y="-1"/>
            <a:ext cx="4815840" cy="2745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335"/>
            <a:ext cx="5696188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Apparatus and Circuit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474" y="1575078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Phase Auto Transformer (VARIAC)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7474" y="1991439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Voltmeters (0-250V)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7474" y="2407801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Ammeter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7474" y="2824163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Connecting Wires</a:t>
            </a: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74" y="3406140"/>
            <a:ext cx="12841367" cy="3817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7474" y="7464028"/>
            <a:ext cx="13135451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endParaRPr lang="en-US" sz="1650" dirty="0"/>
          </a:p>
        </p:txBody>
      </p:sp>
      <p:pic>
        <p:nvPicPr>
          <p:cNvPr id="10" name="Picture 9" descr="A tornado in the sky&#10;&#10;AI-generated content may be incorrect.">
            <a:extLst>
              <a:ext uri="{FF2B5EF4-FFF2-40B4-BE49-F238E27FC236}">
                <a16:creationId xmlns:a16="http://schemas.microsoft.com/office/drawing/2014/main" id="{E101AE2E-53F2-9B0D-4976-91FBBBFB2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960" y="-6072"/>
            <a:ext cx="5425439" cy="3162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280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Theory and Formula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52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 magneto motive force is applied to an iron ring or core, magnetic potential gradient is produced within the material.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133951" y="3901321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expressed by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H= (N \cdot I)/l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646170"/>
            <a:ext cx="30480" cy="873204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93790" y="47745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induced EMF due to the electromagnetic coil can be represented via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24488"/>
            <a:ext cx="13042821" cy="652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424488"/>
            <a:ext cx="13042821" cy="652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3790" y="63638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this, we draw a graph between Current and Voltage, which is similar to the curve traced by the B-H characteristics.</a:t>
            </a:r>
            <a:endParaRPr lang="en-US" sz="1750" dirty="0"/>
          </a:p>
        </p:txBody>
      </p:sp>
      <p:pic>
        <p:nvPicPr>
          <p:cNvPr id="13" name="Picture 12" descr="A road with colorful lights&#10;&#10;AI-generated content may be incorrect.">
            <a:extLst>
              <a:ext uri="{FF2B5EF4-FFF2-40B4-BE49-F238E27FC236}">
                <a16:creationId xmlns:a16="http://schemas.microsoft.com/office/drawing/2014/main" id="{98C1F84F-D0C1-F7E4-D45B-9B9FE8CCE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-6072"/>
            <a:ext cx="7635240" cy="2416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9123"/>
            <a:ext cx="68818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Procedure of Experiment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71530"/>
            <a:ext cx="226814" cy="283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4026575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93790" y="42008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the Circuit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93790" y="476226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circuit is connected as shown in circuit diagram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3671530"/>
            <a:ext cx="226814" cy="2834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216962" y="4026575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216962" y="4200882"/>
            <a:ext cx="419635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Increase Voltage in Steps</a:t>
            </a:r>
            <a:endParaRPr lang="en-US" sz="2650" dirty="0"/>
          </a:p>
        </p:txBody>
      </p:sp>
      <p:sp>
        <p:nvSpPr>
          <p:cNvPr id="10" name="Text 6"/>
          <p:cNvSpPr/>
          <p:nvPr/>
        </p:nvSpPr>
        <p:spPr>
          <a:xfrm>
            <a:off x="5216962" y="5187553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Voltage is increased in Variac in steps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3671530"/>
            <a:ext cx="226814" cy="2834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40133" y="4026575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9640133" y="42008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Note Readings</a:t>
            </a:r>
            <a:endParaRPr lang="en-US" sz="2650" dirty="0"/>
          </a:p>
        </p:txBody>
      </p:sp>
      <p:sp>
        <p:nvSpPr>
          <p:cNvPr id="14" name="Text 9"/>
          <p:cNvSpPr/>
          <p:nvPr/>
        </p:nvSpPr>
        <p:spPr>
          <a:xfrm>
            <a:off x="9640133" y="476226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readings of Voltmeter V2 and Ammeter are noted</a:t>
            </a:r>
            <a:endParaRPr lang="en-US" sz="1750" dirty="0"/>
          </a:p>
        </p:txBody>
      </p:sp>
      <p:pic>
        <p:nvPicPr>
          <p:cNvPr id="16" name="Picture 15" descr="A colorful glowing sphere with smoke&#10;&#10;AI-generated content may be incorrect.">
            <a:extLst>
              <a:ext uri="{FF2B5EF4-FFF2-40B4-BE49-F238E27FC236}">
                <a16:creationId xmlns:a16="http://schemas.microsoft.com/office/drawing/2014/main" id="{80BF2E85-D181-E8BB-0234-301B4D262D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3320" y="0"/>
            <a:ext cx="5217080" cy="3002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486" y="510302"/>
            <a:ext cx="4639389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B-H Curve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49486" y="3763566"/>
            <a:ext cx="6402348" cy="800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50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HYSTERISIS LOOP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49486" y="4749284"/>
            <a:ext cx="6439376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curve formed by the B-H Characteristics is known as the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"Hysteresis Loop"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158" y="1577221"/>
            <a:ext cx="5422463" cy="5469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9158" y="7255788"/>
            <a:ext cx="6439376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pic>
        <p:nvPicPr>
          <p:cNvPr id="8" name="Picture 7" descr="A glowing lines and dots&#10;&#10;AI-generated content may be incorrect.">
            <a:extLst>
              <a:ext uri="{FF2B5EF4-FFF2-40B4-BE49-F238E27FC236}">
                <a16:creationId xmlns:a16="http://schemas.microsoft.com/office/drawing/2014/main" id="{8AA05734-2C8A-AAB2-66BA-BAC84F591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654040"/>
            <a:ext cx="6797040" cy="2575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7074"/>
            <a:ext cx="79336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 and Conclusion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26791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93790" y="2519482"/>
            <a:ext cx="6379607" cy="1748433"/>
          </a:xfrm>
          <a:prstGeom prst="roundRect">
            <a:avLst>
              <a:gd name="adj" fmla="val 544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2428" y="275391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Applications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28224" y="3315295"/>
            <a:ext cx="59107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ferromagnetic materials are used in transformer cores, motors and electromagnets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56884" y="4298394"/>
            <a:ext cx="6379726" cy="138553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945523" y="452520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Energy Efficiency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91318" y="5086588"/>
            <a:ext cx="59108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B-H curve helps reduce energy loss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908596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252686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0906" y="619208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Conclusion:</a:t>
            </a: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Thus, B-H curve explains how ferromagnetic materials behave under varying magnetic fields</a:t>
            </a:r>
            <a:endParaRPr lang="en-US" sz="1750" dirty="0"/>
          </a:p>
        </p:txBody>
      </p:sp>
      <p:pic>
        <p:nvPicPr>
          <p:cNvPr id="18" name="Picture 17" descr="A group of purple spheres&#10;&#10;AI-generated content may be incorrect.">
            <a:extLst>
              <a:ext uri="{FF2B5EF4-FFF2-40B4-BE49-F238E27FC236}">
                <a16:creationId xmlns:a16="http://schemas.microsoft.com/office/drawing/2014/main" id="{F170522E-7913-5211-57BB-C1913CE94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920" y="-1"/>
            <a:ext cx="5364480" cy="36728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Gratitude Thank You Images – Browse 2,026,576 Stock Photos, Vectors, and  Video | Adobe Stock">
            <a:extLst>
              <a:ext uri="{FF2B5EF4-FFF2-40B4-BE49-F238E27FC236}">
                <a16:creationId xmlns:a16="http://schemas.microsoft.com/office/drawing/2014/main" id="{06605243-4A31-406E-E62A-3CD13F233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094" y="1491916"/>
            <a:ext cx="8386011" cy="5329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26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45</TotalTime>
  <Words>407</Words>
  <Application>Microsoft Office PowerPoint</Application>
  <PresentationFormat>Custom</PresentationFormat>
  <Paragraphs>68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Inter</vt:lpstr>
      <vt:lpstr>Inter Bold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 Baseer</cp:lastModifiedBy>
  <cp:revision>2</cp:revision>
  <dcterms:created xsi:type="dcterms:W3CDTF">2025-10-14T15:05:28Z</dcterms:created>
  <dcterms:modified xsi:type="dcterms:W3CDTF">2025-10-15T13:27:56Z</dcterms:modified>
</cp:coreProperties>
</file>